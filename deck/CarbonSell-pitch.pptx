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a cement plant pays to bury CO2, a concrete yard 150 km away pays to buy it, and neither can find the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26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CARBONSELL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captured CO₂ into something worth selling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E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marketplace that prices carbon delivered to your gate — gas, haulage and all.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94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29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Anomaly  ·  Circular Carbon Ecosystem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6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industries need each other and cannot find each other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210312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9525">
            <a:solidFill>
              <a:srgbClr val="D2DAE1"/>
            </a:solidFill>
            <a:prstDash val="solid"/>
          </a:ln>
          <a:effectLst>
            <a:outerShdw sx="100000" sy="100000" kx="0" ky="0" algn="bl" rotWithShape="0" blurRad="76200" dist="12700" dir="5400000">
              <a:srgbClr val="9FB0BC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side pays to get rid of it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6888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Cement plants, steel mills and power stations capture CO₂ from their exhaust. Then they pay again — to compress it, store it and bury it. Captured carbon shows up on the books as a cost, so capturing more of it makes no business sense.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210312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9525">
            <a:solidFill>
              <a:srgbClr val="D2DAE1"/>
            </a:solidFill>
            <a:prstDash val="solid"/>
          </a:ln>
          <a:effectLst>
            <a:outerShdw sx="100000" sy="100000" kx="0" ky="0" algn="bl" rotWithShape="0" blurRad="76200" dist="12700" dir="5400000">
              <a:srgbClr val="9FB0BC">
                <a:alpha val="2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720840" y="2057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other side pays to buy it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720840" y="246888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Methanol and fuel makers, urea plants, beverage bottlers, greenhouses, algae farms and concrete curing yards all buy CO₂ as a raw material — often shipped in from far away, at a price that includes someone else's margin.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251960"/>
            <a:ext cx="10881360" cy="1691640"/>
          </a:xfrm>
          <a:prstGeom prst="roundRect">
            <a:avLst>
              <a:gd name="adj" fmla="val 2162"/>
            </a:avLst>
          </a:prstGeom>
          <a:solidFill>
            <a:srgbClr val="12202B"/>
          </a:solidFill>
          <a:ln w="9525">
            <a:solidFill>
              <a:srgbClr val="D2DAE1"/>
            </a:solidFill>
            <a:prstDash val="solid"/>
          </a:ln>
          <a:effectLst>
            <a:outerShdw sx="100000" sy="100000" kx="0" ky="0" algn="bl" rotWithShape="0" blurRad="76200" dist="12700" dir="5400000">
              <a:srgbClr val="9FB0BC">
                <a:alpha val="2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005840" y="4480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6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gap survives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8920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place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E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see who has gas, how much, and how pure it is.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48920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delivered price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E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is the biggest cost and nobody can estimate it up front.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48920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trust a stranger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E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six-figure order and a quality claim.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captured CO₂ gets buried, and carbon capture stays an expense nobody volunteers for.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6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marketplace that prices carbon delivered, not at the gate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2610F"/>
          </a:solidFill>
          <a:ln w="12700">
            <a:solidFill>
              <a:srgbClr val="C2610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8308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Sellers list what they actually have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14884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purity, a full contaminant profile in ppm, a pickup site, and a starting price — backed by an ACVA report or a lab test.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9443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2610F"/>
          </a:solidFill>
          <a:ln w="12700">
            <a:solidFill>
              <a:srgbClr val="C2610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898648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Buyers say what they need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6440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minimum purity, a price ceiling for the gas, and any contaminant limits their process cares about.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2610F"/>
          </a:solidFill>
          <a:ln w="12700">
            <a:solidFill>
              <a:srgbClr val="C2610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014216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rank every seller by real cost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7997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plus haulage, using real road distance and the cheapest truck that fits. One number: rupees per tonne at your gate.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17550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2610F"/>
          </a:solidFill>
          <a:ln w="12700">
            <a:solidFill>
              <a:srgbClr val="C2610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175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12978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trade with strangers safely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49554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Bidding windows, in-app chat, consent-based phone sharing, escrow, and a sample check before the money moves.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321040" y="1783080"/>
            <a:ext cx="3200400" cy="3931920"/>
          </a:xfrm>
          <a:prstGeom prst="roundRect">
            <a:avLst>
              <a:gd name="adj" fmla="val 1143"/>
            </a:avLst>
          </a:prstGeom>
          <a:solidFill>
            <a:srgbClr val="E2EFF2"/>
          </a:solidFill>
          <a:ln w="9525">
            <a:solidFill>
              <a:srgbClr val="D2DAE1"/>
            </a:solidFill>
            <a:prstDash val="solid"/>
          </a:ln>
          <a:effectLst>
            <a:outerShdw sx="100000" sy="100000" kx="0" ky="0" algn="bl" rotWithShape="0" blurRad="76200" dist="12700" dir="5400000">
              <a:srgbClr val="9FB0BC">
                <a:alpha val="2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641080" y="2011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641080" y="2423160"/>
            <a:ext cx="2651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Emitters — cement, steel, power, refineries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Utilisers — methanol, urea, beverages, greenhouses, concrete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partners with CO₂ tankers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watching a region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6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deal happens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37560" cy="17830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2DAE1"/>
            </a:solidFill>
            <a:prstDash val="solid"/>
          </a:ln>
          <a:effectLst>
            <a:outerShdw sx="100000" sy="100000" kx="0" ky="0" algn="bl" rotWithShape="0" blurRad="76200" dist="12700" dir="5400000">
              <a:srgbClr val="9FB0BC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848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2610F"/>
          </a:solidFill>
          <a:ln w="12700">
            <a:solidFill>
              <a:srgbClr val="C2610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121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7860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signs up with its GSTIN. Purity is backed by an ACVA report, or a lab test if they have none.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005072" y="25146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26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337560" cy="17830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2DAE1"/>
            </a:solidFill>
            <a:prstDash val="solid"/>
          </a:ln>
          <a:effectLst>
            <a:outerShdw sx="100000" sy="100000" kx="0" ky="0" algn="bl" rotWithShape="0" blurRad="76200" dist="12700" dir="5400000">
              <a:srgbClr val="9FB0BC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0848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2610F"/>
          </a:solidFill>
          <a:ln w="12700">
            <a:solidFill>
              <a:srgbClr val="C2610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2121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57860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posts volume, purity, contaminant profile, pickup site, starting price and a bidding window.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08392" y="25146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26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046720" y="1828800"/>
            <a:ext cx="3337560" cy="17830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2DAE1"/>
            </a:solidFill>
            <a:prstDash val="solid"/>
          </a:ln>
          <a:effectLst>
            <a:outerShdw sx="100000" sy="100000" kx="0" ky="0" algn="bl" rotWithShape="0" blurRad="76200" dist="12700" dir="5400000">
              <a:srgbClr val="9FB0BC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0848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2610F"/>
          </a:solidFill>
          <a:ln w="12700">
            <a:solidFill>
              <a:srgbClr val="C2610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823960" y="2121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57860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filter by what matters to them. Every seller is ranked by delivered cost, not asking price.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931920"/>
            <a:ext cx="3337560" cy="17830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2DAE1"/>
            </a:solidFill>
            <a:prstDash val="solid"/>
          </a:ln>
          <a:effectLst>
            <a:outerShdw sx="100000" sy="100000" kx="0" ky="0" algn="bl" rotWithShape="0" blurRad="76200" dist="12700" dir="5400000">
              <a:srgbClr val="9FB0BC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4400" y="418795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2610F"/>
          </a:solidFill>
          <a:ln w="12700">
            <a:solidFill>
              <a:srgbClr val="C2610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4224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468172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bid inside the window and ask questions in chat. The seller shares a phone number only if they want to.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05072" y="4617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26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343400" y="3931920"/>
            <a:ext cx="3337560" cy="17830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2DAE1"/>
            </a:solidFill>
            <a:prstDash val="solid"/>
          </a:ln>
          <a:effectLst>
            <a:outerShdw sx="100000" sy="100000" kx="0" ky="0" algn="bl" rotWithShape="0" blurRad="76200" dist="12700" dir="5400000">
              <a:srgbClr val="9FB0BC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17720" y="418795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2610F"/>
          </a:solidFill>
          <a:ln w="12700">
            <a:solidFill>
              <a:srgbClr val="C2610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1772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4224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Award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4617720" y="468172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takes one bid, or several to fill the quantity. Payment goes into escrow, not to the seller.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708392" y="4617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26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8046720" y="3931920"/>
            <a:ext cx="3337560" cy="17830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2DAE1"/>
            </a:solidFill>
            <a:prstDash val="solid"/>
          </a:ln>
          <a:effectLst>
            <a:outerShdw sx="100000" sy="100000" kx="0" ky="0" algn="bl" rotWithShape="0" blurRad="76200" dist="12700" dir="5400000">
              <a:srgbClr val="9FB0BC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321040" y="418795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2610F"/>
          </a:solidFill>
          <a:ln w="12700">
            <a:solidFill>
              <a:srgbClr val="C2610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32104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823960" y="4224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8321040" y="468172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CO₂ logistics partner ships it. The buyer samples on arrival, the escrow releases, both sides rate each other.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Verify to Award is built and working today. Escrow and the logistics hand-off are the next build.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6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RANK DIFFERENTLY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purest gas is almost never the cheapest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result from the product: a concrete yard in Nagpur needs 200 tonne at 95% or better.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166360" cy="2286000"/>
          </a:xfrm>
          <a:prstGeom prst="roundRect">
            <a:avLst>
              <a:gd name="adj" fmla="val 1600"/>
            </a:avLst>
          </a:prstGeom>
          <a:solidFill>
            <a:srgbClr val="FBEEDF"/>
          </a:solidFill>
          <a:ln w="9525">
            <a:solidFill>
              <a:srgbClr val="D2DAE1"/>
            </a:solidFill>
            <a:prstDash val="solid"/>
          </a:ln>
          <a:effectLst>
            <a:outerShdw sx="100000" sy="100000" kx="0" ky="0" algn="bl" rotWithShape="0" blurRad="76200" dist="12700" dir="5400000">
              <a:srgbClr val="9FB0BC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6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#1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Chandrapur Super Thermal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035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95.8% purity  ·  153 km away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4015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₹2,484.63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tonne delivered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0050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₹2,050 gas  +  ₹434.63 haulage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55080" y="2148840"/>
            <a:ext cx="5166360" cy="2286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D2DAE1"/>
            </a:solidFill>
            <a:prstDash val="solid"/>
          </a:ln>
          <a:effectLst>
            <a:outerShdw sx="100000" sy="100000" kx="0" ky="0" algn="bl" rotWithShape="0" blurRad="76200" dist="12700" dir="5400000">
              <a:srgbClr val="9FB0BC">
                <a:alpha val="2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675120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#3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Solapur Cement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035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96.5% purity  ·  651 km away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34015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₹4,092.67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864108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tonne delivered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40050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₹2,100 gas  +  ₹1,992.67 haulage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709160"/>
            <a:ext cx="10881360" cy="1051560"/>
          </a:xfrm>
          <a:prstGeom prst="roundRect">
            <a:avLst>
              <a:gd name="adj" fmla="val 3478"/>
            </a:avLst>
          </a:prstGeom>
          <a:solidFill>
            <a:srgbClr val="12202B"/>
          </a:solidFill>
          <a:ln w="9525">
            <a:solidFill>
              <a:srgbClr val="D2DAE1"/>
            </a:solidFill>
            <a:prstDash val="solid"/>
          </a:ln>
          <a:effectLst>
            <a:outerShdw sx="100000" sy="100000" kx="0" ky="0" algn="bl" rotWithShape="0" blurRad="76200" dist="12700" dir="5400000">
              <a:srgbClr val="9FB0BC">
                <a:alpha val="2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05840" y="493776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cleaner gas costs ₹1,608 more per tonne — ₹3.2 lakh on this one order.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E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Haulage decides these deals, and nobody in this market prices it before they call.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6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seller's side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03520" cy="4114800"/>
          </a:xfrm>
          <a:prstGeom prst="roundRect">
            <a:avLst>
              <a:gd name="adj" fmla="val 667"/>
            </a:avLst>
          </a:prstGeom>
          <a:solidFill>
            <a:srgbClr val="FFFFFF"/>
          </a:solidFill>
          <a:ln w="12700">
            <a:solidFill>
              <a:srgbClr val="D2DA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474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shots/01-listing-form.png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7881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a listing — contaminant profile in ppm, starting price, bidding window.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212080" cy="4114800"/>
          </a:xfrm>
          <a:prstGeom prst="roundRect">
            <a:avLst>
              <a:gd name="adj" fmla="val 667"/>
            </a:avLst>
          </a:prstGeom>
          <a:solidFill>
            <a:srgbClr val="FFFFFF"/>
          </a:solidFill>
          <a:ln w="12700">
            <a:solidFill>
              <a:srgbClr val="D2DA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3474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shots/02-bid-desk.png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57881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auction desk — every bidder, with accept, decline and chat.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6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buyer's side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03520" cy="4114800"/>
          </a:xfrm>
          <a:prstGeom prst="roundRect">
            <a:avLst>
              <a:gd name="adj" fmla="val 667"/>
            </a:avLst>
          </a:prstGeom>
          <a:solidFill>
            <a:srgbClr val="FFFFFF"/>
          </a:solidFill>
          <a:ln w="12700">
            <a:solidFill>
              <a:srgbClr val="D2DA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474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shots/03-matches.png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7881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ranked by delivered cost, with the haulage plan behind every number.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212080" cy="4114800"/>
          </a:xfrm>
          <a:prstGeom prst="roundRect">
            <a:avLst>
              <a:gd name="adj" fmla="val 667"/>
            </a:avLst>
          </a:prstGeom>
          <a:solidFill>
            <a:srgbClr val="FFFFFF"/>
          </a:solidFill>
          <a:ln w="12700">
            <a:solidFill>
              <a:srgbClr val="D2DA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3474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shots/04-listing-bid.png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57881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auction — highest bid, lowest bid, time left, and the gas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6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Talking, and closing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03520" cy="3291840"/>
          </a:xfrm>
          <a:prstGeom prst="roundRect">
            <a:avLst>
              <a:gd name="adj" fmla="val 833"/>
            </a:avLst>
          </a:prstGeom>
          <a:solidFill>
            <a:srgbClr val="FFFFFF"/>
          </a:solidFill>
          <a:ln w="12700">
            <a:solidFill>
              <a:srgbClr val="D2DA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063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shots/05-chat.png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9651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on the listing. The seller releases their number to one buyer, deliberately.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212080" cy="3291840"/>
          </a:xfrm>
          <a:prstGeom prst="roundRect">
            <a:avLst>
              <a:gd name="adj" fmla="val 833"/>
            </a:avLst>
          </a:prstGeom>
          <a:solidFill>
            <a:srgbClr val="FFFFFF"/>
          </a:solidFill>
          <a:ln w="12700">
            <a:solidFill>
              <a:srgbClr val="D2DA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3063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shots/06-orders.png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49651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after the deal — pickup slot, haul plan, contact unmasked.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running: signup and verification badge, listings, ranking, bidding, chat, orders and pickup scheduling.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6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 built 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3756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2DAE1"/>
            </a:solidFill>
            <a:prstDash val="solid"/>
          </a:ln>
          <a:effectLst>
            <a:outerShdw sx="100000" sy="100000" kx="0" ky="0" algn="bl" rotWithShape="0" blurRad="76200" dist="12700" dir="5400000">
              <a:srgbClr val="9FB0BC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59152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with Vite and TypeScript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for the interface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for maps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33756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2DAE1"/>
            </a:solidFill>
            <a:prstDash val="solid"/>
          </a:ln>
          <a:effectLst>
            <a:outerShdw sx="100000" sy="100000" kx="0" ky="0" algn="bl" rotWithShape="0" blurRad="76200" dist="12700" dir="5400000">
              <a:srgbClr val="9FB0BC">
                <a:alpha val="2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1772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359152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FastAPI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for every marketplace action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API docs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33756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2DAE1"/>
            </a:solidFill>
            <a:prstDash val="solid"/>
          </a:ln>
          <a:effectLst>
            <a:outerShdw sx="100000" sy="100000" kx="0" ky="0" algn="bl" rotWithShape="0" blurRad="76200" dist="12700" dir="5400000">
              <a:srgbClr val="9FB0BC">
                <a:alpha val="2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2104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359152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now, PostgreSQL behind the same ORM later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for location queries at scale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333756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2DAE1"/>
            </a:solidFill>
            <a:prstDash val="solid"/>
          </a:ln>
          <a:effectLst>
            <a:outerShdw sx="100000" sy="100000" kx="0" ky="0" algn="bl" rotWithShape="0" blurRad="76200" dist="12700" dir="5400000">
              <a:srgbClr val="9FB0BC">
                <a:alpha val="2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440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Maps and routing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507992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Maps for address autocomplete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road distance for haulage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cached on disk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3886200"/>
            <a:ext cx="333756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2DAE1"/>
            </a:solidFill>
            <a:prstDash val="solid"/>
          </a:ln>
          <a:effectLst>
            <a:outerShdw sx="100000" sy="100000" kx="0" ky="0" algn="bl" rotWithShape="0" blurRad="76200" dist="12700" dir="5400000">
              <a:srgbClr val="9FB0BC">
                <a:alpha val="2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61772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4507992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passwords, JWT sessions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read from the token, never the browser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numbers masked server-side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3886200"/>
            <a:ext cx="333756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2DAE1"/>
            </a:solidFill>
            <a:prstDash val="solid"/>
          </a:ln>
          <a:effectLst>
            <a:outerShdw sx="100000" sy="100000" kx="0" ky="0" algn="bl" rotWithShape="0" blurRad="76200" dist="12700" dir="5400000">
              <a:srgbClr val="9FB0BC">
                <a:alpha val="2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32104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4507992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escrow accounts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GSTIN and CIN verification APIs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storage for lab reports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6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AND ANSWERS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go wrong, and what we do about it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37944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2610F"/>
          </a:solidFill>
          <a:ln w="12700">
            <a:solidFill>
              <a:srgbClr val="C2610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seller overstates purity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112264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Purity has to be backed by an ACVA report, or a lab test. The buyer samples on delivery, and the escrow does not release until they accept.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837944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2610F"/>
          </a:solidFill>
          <a:ln w="12700">
            <a:solidFill>
              <a:srgbClr val="C2610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783080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buyer rejects good gas to get out of a deal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112264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disputed load goes to an independent lab. Whoever is proved wrong pays for the test, so a false rejection costs money.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438144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2610F"/>
          </a:solidFill>
          <a:ln w="12700">
            <a:solidFill>
              <a:srgbClr val="C2610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383280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winning bidder walks away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12464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get a warning, then a suspension from bidding. The seller can hand the deal to the next highest bidder.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438144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2610F"/>
          </a:solidFill>
          <a:ln w="12700">
            <a:solidFill>
              <a:srgbClr val="C2610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3383280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Either side simply is not who they claim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712464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are checked against GSTIN and CIN records at signup, and only verified companies can list or bid.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038344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2610F"/>
          </a:solidFill>
          <a:ln w="12700">
            <a:solidFill>
              <a:srgbClr val="C2610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983480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goes missing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312664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reaches a stranger. Payment sits in a Razorpay escrow account from the moment a deal is struck until the gas is accepted.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5038344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2610F"/>
          </a:solidFill>
          <a:ln w="12700">
            <a:solidFill>
              <a:srgbClr val="C2610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37960" y="4983480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seller sells more than they ever captured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5312664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regulator dashboard flags anyone whose sales exceed the volume in their ACVA report.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6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platform earns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14600" cy="2286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D2DAE1"/>
            </a:solidFill>
            <a:prstDash val="solid"/>
          </a:ln>
          <a:effectLst>
            <a:outerShdw sx="100000" sy="100000" kx="0" ky="0" algn="bl" rotWithShape="0" blurRad="76200" dist="12700" dir="5400000">
              <a:srgbClr val="9FB0BC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488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2610F"/>
          </a:solidFill>
          <a:ln w="12700">
            <a:solidFill>
              <a:srgbClr val="C2610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6517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cut of each sale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36499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percentage of what the seller takes on a completed deal.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1920240"/>
            <a:ext cx="2514600" cy="2286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D2DAE1"/>
            </a:solidFill>
            <a:prstDash val="solid"/>
          </a:ln>
          <a:effectLst>
            <a:outerShdw sx="100000" sy="100000" kx="0" ky="0" algn="bl" rotWithShape="0" blurRad="76200" dist="12700" dir="5400000">
              <a:srgbClr val="9FB0BC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85032" y="21488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2610F"/>
          </a:solidFill>
          <a:ln w="12700">
            <a:solidFill>
              <a:srgbClr val="C2610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8503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85032" y="26517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partners pay us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85032" y="336499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a recommended carrier — periodically, and per order they win through us.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920240"/>
            <a:ext cx="2514600" cy="2286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D2DAE1"/>
            </a:solidFill>
            <a:prstDash val="solid"/>
          </a:ln>
          <a:effectLst>
            <a:outerShdw sx="100000" sy="100000" kx="0" ky="0" algn="bl" rotWithShape="0" blurRad="76200" dist="12700" dir="5400000">
              <a:srgbClr val="9FB0BC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73952" y="21488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2610F"/>
          </a:solidFill>
          <a:ln w="12700">
            <a:solidFill>
              <a:srgbClr val="C2610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7395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73952" y="26517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Penalties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73952" y="336499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on fraudulent or abandoned orders, which also funds the dispute lab tests.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06840" y="1920240"/>
            <a:ext cx="2514600" cy="2286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D2DAE1"/>
            </a:solidFill>
            <a:prstDash val="solid"/>
          </a:ln>
          <a:effectLst>
            <a:outerShdw sx="100000" sy="100000" kx="0" ky="0" algn="bl" rotWithShape="0" blurRad="76200" dist="12700" dir="5400000">
              <a:srgbClr val="9FB0BC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62872" y="21488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2610F"/>
          </a:solidFill>
          <a:ln w="12700">
            <a:solidFill>
              <a:srgbClr val="C2610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6287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262872" y="26517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Subscriptions, later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62872" y="336499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high-volume sellers and regulators who want the analytics.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526280"/>
            <a:ext cx="10881360" cy="1188720"/>
          </a:xfrm>
          <a:prstGeom prst="roundRect">
            <a:avLst>
              <a:gd name="adj" fmla="val 3077"/>
            </a:avLst>
          </a:prstGeom>
          <a:solidFill>
            <a:srgbClr val="E2EFF2"/>
          </a:solidFill>
          <a:ln w="9525">
            <a:solidFill>
              <a:srgbClr val="D2DAE1"/>
            </a:solidFill>
            <a:prstDash val="solid"/>
          </a:ln>
          <a:effectLst>
            <a:outerShdw sx="100000" sy="100000" kx="0" ky="0" algn="bl" rotWithShape="0" blurRad="76200" dist="12700" dir="5400000">
              <a:srgbClr val="9FB0BC">
                <a:alpha val="2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005840" y="48006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pays to look. 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Listing, searching and bidding are free, because an empty marketplace is worth nothing. We only earn when a tonne of CO₂ actually moves.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6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build next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37560" cy="17830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2DAE1"/>
            </a:solidFill>
            <a:prstDash val="solid"/>
          </a:ln>
          <a:effectLst>
            <a:outerShdw sx="100000" sy="100000" kx="0" ky="0" algn="bl" rotWithShape="0" blurRad="76200" dist="12700" dir="5400000">
              <a:srgbClr val="9FB0BC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03911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Pool small sellers into one order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974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 single seller can fill a large order, combine several and pool the deliveries.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783080"/>
            <a:ext cx="3337560" cy="17830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2DAE1"/>
            </a:solidFill>
            <a:prstDash val="solid"/>
          </a:ln>
          <a:effectLst>
            <a:outerShdw sx="100000" sy="100000" kx="0" ky="0" algn="bl" rotWithShape="0" blurRad="76200" dist="12700" dir="5400000">
              <a:srgbClr val="9FB0BC">
                <a:alpha val="2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17720" y="203911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trucks and return legs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6974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truck collects from several emitters on the same day, and empty tankers heading home get filled cheaply.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337560" cy="17830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2DAE1"/>
            </a:solidFill>
            <a:prstDash val="solid"/>
          </a:ln>
          <a:effectLst>
            <a:outerShdw sx="100000" sy="100000" kx="0" ky="0" algn="bl" rotWithShape="0" blurRad="76200" dist="12700" dir="5400000">
              <a:srgbClr val="9FB0BC">
                <a:alpha val="2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21040" y="203911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blending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6974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a high-purity and a lower-purity stream to hit a buyer's spec for less than buying clean gas.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3337560" cy="17830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2DAE1"/>
            </a:solidFill>
            <a:prstDash val="solid"/>
          </a:ln>
          <a:effectLst>
            <a:outerShdw sx="100000" sy="100000" kx="0" ky="0" algn="bl" rotWithShape="0" blurRad="76200" dist="12700" dir="5400000">
              <a:srgbClr val="9FB0BC">
                <a:alpha val="2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4400" y="414223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carbon map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8006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Supply, unmet demand, stranded CO₂ with no viable buyer, and average price by region — on one map.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3886200"/>
            <a:ext cx="3337560" cy="17830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2DAE1"/>
            </a:solidFill>
            <a:prstDash val="solid"/>
          </a:ln>
          <a:effectLst>
            <a:outerShdw sx="100000" sy="100000" kx="0" ky="0" algn="bl" rotWithShape="0" blurRad="76200" dist="12700" dir="5400000">
              <a:srgbClr val="9FB0BC">
                <a:alpha val="2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617720" y="414223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planner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48006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clusters of stranded carbon to suggest where a shared purification hub or pipeline would pay for itself.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3886200"/>
            <a:ext cx="3337560" cy="17830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2DAE1"/>
            </a:solidFill>
            <a:prstDash val="solid"/>
          </a:ln>
          <a:effectLst>
            <a:outerShdw sx="100000" sy="100000" kx="0" ky="0" algn="bl" rotWithShape="0" blurRad="76200" dist="12700" dir="5400000">
              <a:srgbClr val="9FB0BC">
                <a:alpha val="2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321040" y="414223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assistant for new buyers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48006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first-time buyers do not know what spec their process needs. It asks, then fills the requirement in.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26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288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captured carbon a price and a buyer, and capturing it stops being charity.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379476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2610F"/>
          </a:solidFill>
          <a:ln w="12700">
            <a:solidFill>
              <a:srgbClr val="C2610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40233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CO₂ becomes a tradeable asset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709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E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disposal bill.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379476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2610F"/>
          </a:solidFill>
          <a:ln w="12700">
            <a:solidFill>
              <a:srgbClr val="C2610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97680" y="40233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fall on both sides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4709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E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gas is reused, and the buyer stops sourcing it from somewhere further away.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5280" y="379476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2610F"/>
          </a:solidFill>
          <a:ln w="12700">
            <a:solidFill>
              <a:srgbClr val="C2610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0" y="40233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projects get a business case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09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E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what actually gets them built.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943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29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CarbonSell  ·  Team Anomaly  ·  github.com/arjun258/CarbonSell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CarbonSell</dc:title>
  <dc:subject>PptxGenJS Presentation</dc:subject>
  <dc:creator>Team Anomaly</dc:creator>
  <cp:lastModifiedBy>Team Anomaly</cp:lastModifiedBy>
  <cp:revision>1</cp:revision>
  <dcterms:created xsi:type="dcterms:W3CDTF">2026-09-13T03:23:13Z</dcterms:created>
  <dcterms:modified xsi:type="dcterms:W3CDTF">2026-09-13T03:23:13Z</dcterms:modified>
</cp:coreProperties>
</file>